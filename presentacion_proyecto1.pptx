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Canva Sans" charset="1" panose="020B0503030501040103"/>
      <p:regular r:id="rId16"/>
    </p:embeddedFont>
    <p:embeddedFont>
      <p:font typeface="Montserrat" charset="1" panose="00000500000000000000"/>
      <p:regular r:id="rId17"/>
    </p:embeddedFont>
    <p:embeddedFont>
      <p:font typeface="Canva Sans Bold" charset="1" panose="020B0803030501040103"/>
      <p:regular r:id="rId18"/>
    </p:embeddedFont>
    <p:embeddedFont>
      <p:font typeface="Open Sans" charset="1" panose="020B0606030504020204"/>
      <p:regular r:id="rId19"/>
    </p:embeddedFont>
    <p:embeddedFont>
      <p:font typeface="Open Sans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8693" y="1383612"/>
            <a:ext cx="6310607" cy="7200900"/>
          </a:xfrm>
          <a:custGeom>
            <a:avLst/>
            <a:gdLst/>
            <a:ahLst/>
            <a:cxnLst/>
            <a:rect r="r" b="b" t="t" l="l"/>
            <a:pathLst>
              <a:path h="7200900" w="6310607">
                <a:moveTo>
                  <a:pt x="0" y="0"/>
                </a:moveTo>
                <a:lnTo>
                  <a:pt x="6310607" y="0"/>
                </a:lnTo>
                <a:lnTo>
                  <a:pt x="6310607" y="7200900"/>
                </a:lnTo>
                <a:lnTo>
                  <a:pt x="0" y="72009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963232"/>
            <a:ext cx="9253225" cy="1866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5"/>
              </a:lnSpc>
            </a:pPr>
            <a:r>
              <a:rPr lang="en-US" sz="13500" b="true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Proyecto 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7519831" y="-691855"/>
            <a:ext cx="1676063" cy="11497700"/>
            <a:chOff x="0" y="0"/>
            <a:chExt cx="441432" cy="30282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1432" cy="3028201"/>
            </a:xfrm>
            <a:custGeom>
              <a:avLst/>
              <a:gdLst/>
              <a:ahLst/>
              <a:cxnLst/>
              <a:rect r="r" b="b" t="t" l="l"/>
              <a:pathLst>
                <a:path h="3028201" w="441432">
                  <a:moveTo>
                    <a:pt x="0" y="0"/>
                  </a:moveTo>
                  <a:lnTo>
                    <a:pt x="441432" y="0"/>
                  </a:lnTo>
                  <a:lnTo>
                    <a:pt x="441432" y="3028201"/>
                  </a:lnTo>
                  <a:lnTo>
                    <a:pt x="0" y="3028201"/>
                  </a:ln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441432" cy="3066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7520738"/>
            <a:ext cx="7471831" cy="106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Gabriela Raymundo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Cristian Juarez</a:t>
            </a:r>
          </a:p>
          <a:p>
            <a:pPr algn="l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Rodrigo Barrios</a:t>
            </a:r>
          </a:p>
        </p:txBody>
      </p:sp>
      <p:sp>
        <p:nvSpPr>
          <p:cNvPr name="AutoShape 8" id="8"/>
          <p:cNvSpPr/>
          <p:nvPr/>
        </p:nvSpPr>
        <p:spPr>
          <a:xfrm flipH="true" flipV="true">
            <a:off x="10477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 flipV="true">
            <a:off x="1191738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 flipV="true">
            <a:off x="1335726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 flipV="true">
            <a:off x="16952274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17096262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flipV="true">
            <a:off x="17240250" y="8855456"/>
            <a:ext cx="0" cy="402844"/>
          </a:xfrm>
          <a:prstGeom prst="line">
            <a:avLst/>
          </a:prstGeom>
          <a:ln cap="flat" w="38100">
            <a:solidFill>
              <a:srgbClr val="EFF1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676369" y="4546636"/>
            <a:ext cx="9605556" cy="204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Pre</a:t>
            </a:r>
            <a:r>
              <a:rPr lang="en-US" sz="29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diccion de Precios de Oportunidad de la Energía en Guatemala</a:t>
            </a:r>
          </a:p>
          <a:p>
            <a:pPr algn="ctr">
              <a:lnSpc>
                <a:spcPts val="4060"/>
              </a:lnSpc>
            </a:pPr>
            <a:r>
              <a:rPr lang="en-US" sz="2900">
                <a:solidFill>
                  <a:srgbClr val="FEFEFE"/>
                </a:solidFill>
                <a:latin typeface="Canva Sans"/>
                <a:ea typeface="Canva Sans"/>
                <a:cs typeface="Canva Sans"/>
                <a:sym typeface="Canva Sans"/>
              </a:rPr>
              <a:t>Modelos de Regresión, Ingeniería de Variables y Explicabilidad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977" y="6805651"/>
            <a:ext cx="3834463" cy="2336241"/>
            <a:chOff x="0" y="0"/>
            <a:chExt cx="5112618" cy="3114988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5112618" cy="3114988"/>
              <a:chOff x="0" y="0"/>
              <a:chExt cx="1009900" cy="615306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009900" cy="615306"/>
              </a:xfrm>
              <a:custGeom>
                <a:avLst/>
                <a:gdLst/>
                <a:ahLst/>
                <a:cxnLst/>
                <a:rect r="r" b="b" t="t" l="l"/>
                <a:pathLst>
                  <a:path h="615306" w="1009900">
                    <a:moveTo>
                      <a:pt x="94895" y="0"/>
                    </a:moveTo>
                    <a:lnTo>
                      <a:pt x="915005" y="0"/>
                    </a:lnTo>
                    <a:cubicBezTo>
                      <a:pt x="967414" y="0"/>
                      <a:pt x="1009900" y="42486"/>
                      <a:pt x="1009900" y="94895"/>
                    </a:cubicBezTo>
                    <a:lnTo>
                      <a:pt x="1009900" y="520412"/>
                    </a:lnTo>
                    <a:cubicBezTo>
                      <a:pt x="1009900" y="572820"/>
                      <a:pt x="967414" y="615306"/>
                      <a:pt x="915005" y="615306"/>
                    </a:cubicBezTo>
                    <a:lnTo>
                      <a:pt x="94895" y="615306"/>
                    </a:lnTo>
                    <a:cubicBezTo>
                      <a:pt x="42486" y="615306"/>
                      <a:pt x="0" y="572820"/>
                      <a:pt x="0" y="520412"/>
                    </a:cubicBezTo>
                    <a:lnTo>
                      <a:pt x="0" y="94895"/>
                    </a:lnTo>
                    <a:cubicBezTo>
                      <a:pt x="0" y="42486"/>
                      <a:pt x="42486" y="0"/>
                      <a:pt x="94895" y="0"/>
                    </a:cubicBezTo>
                    <a:close/>
                  </a:path>
                </a:pathLst>
              </a:custGeom>
              <a:solidFill>
                <a:srgbClr val="A0C4CF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38100"/>
                <a:ext cx="1009900" cy="6534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65151" y="1090133"/>
              <a:ext cx="3411403" cy="858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  <a:spcBef>
                  <a:spcPct val="0"/>
                </a:spcBef>
              </a:pPr>
              <a:r>
                <a:rPr lang="en-US" b="true" sz="3899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  <a:r>
                <a:rPr lang="en-US" b="true" sz="3899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– 4 a.m.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265151" y="2327528"/>
              <a:ext cx="4670175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</a:t>
              </a:r>
              <a:r>
                <a:rPr lang="en-US" sz="1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nsumo mínimo de madrugada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265151" y="441456"/>
              <a:ext cx="3394339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Horario más barato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110083" y="6805651"/>
            <a:ext cx="3834463" cy="2336241"/>
            <a:chOff x="0" y="0"/>
            <a:chExt cx="5112618" cy="3114988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5112618" cy="3114988"/>
              <a:chOff x="0" y="0"/>
              <a:chExt cx="1009900" cy="61530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009900" cy="615306"/>
              </a:xfrm>
              <a:custGeom>
                <a:avLst/>
                <a:gdLst/>
                <a:ahLst/>
                <a:cxnLst/>
                <a:rect r="r" b="b" t="t" l="l"/>
                <a:pathLst>
                  <a:path h="615306" w="1009900">
                    <a:moveTo>
                      <a:pt x="94895" y="0"/>
                    </a:moveTo>
                    <a:lnTo>
                      <a:pt x="915005" y="0"/>
                    </a:lnTo>
                    <a:cubicBezTo>
                      <a:pt x="967414" y="0"/>
                      <a:pt x="1009900" y="42486"/>
                      <a:pt x="1009900" y="94895"/>
                    </a:cubicBezTo>
                    <a:lnTo>
                      <a:pt x="1009900" y="520412"/>
                    </a:lnTo>
                    <a:cubicBezTo>
                      <a:pt x="1009900" y="572820"/>
                      <a:pt x="967414" y="615306"/>
                      <a:pt x="915005" y="615306"/>
                    </a:cubicBezTo>
                    <a:lnTo>
                      <a:pt x="94895" y="615306"/>
                    </a:lnTo>
                    <a:cubicBezTo>
                      <a:pt x="42486" y="615306"/>
                      <a:pt x="0" y="572820"/>
                      <a:pt x="0" y="520412"/>
                    </a:cubicBezTo>
                    <a:lnTo>
                      <a:pt x="0" y="94895"/>
                    </a:lnTo>
                    <a:cubicBezTo>
                      <a:pt x="0" y="42486"/>
                      <a:pt x="42486" y="0"/>
                      <a:pt x="94895" y="0"/>
                    </a:cubicBezTo>
                    <a:close/>
                  </a:path>
                </a:pathLst>
              </a:custGeom>
              <a:solidFill>
                <a:srgbClr val="A0C4C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1009900" cy="6534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265151" y="1090133"/>
              <a:ext cx="3411403" cy="858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59"/>
                </a:lnSpc>
                <a:spcBef>
                  <a:spcPct val="0"/>
                </a:spcBef>
              </a:pPr>
              <a:r>
                <a:rPr lang="en-US" b="true" sz="3899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  <a:r>
                <a:rPr lang="en-US" b="true" sz="3899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– 8 p.m.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65151" y="2327528"/>
              <a:ext cx="4670175" cy="3426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Pico de demanda al anochecer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65151" y="441456"/>
              <a:ext cx="3394339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Horario más caro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149073" y="6805651"/>
            <a:ext cx="3834463" cy="2336241"/>
            <a:chOff x="0" y="0"/>
            <a:chExt cx="5112618" cy="3114988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5112618" cy="3114988"/>
              <a:chOff x="0" y="0"/>
              <a:chExt cx="1009900" cy="61530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09900" cy="615306"/>
              </a:xfrm>
              <a:custGeom>
                <a:avLst/>
                <a:gdLst/>
                <a:ahLst/>
                <a:cxnLst/>
                <a:rect r="r" b="b" t="t" l="l"/>
                <a:pathLst>
                  <a:path h="615306" w="1009900">
                    <a:moveTo>
                      <a:pt x="94895" y="0"/>
                    </a:moveTo>
                    <a:lnTo>
                      <a:pt x="915005" y="0"/>
                    </a:lnTo>
                    <a:cubicBezTo>
                      <a:pt x="967414" y="0"/>
                      <a:pt x="1009900" y="42486"/>
                      <a:pt x="1009900" y="94895"/>
                    </a:cubicBezTo>
                    <a:lnTo>
                      <a:pt x="1009900" y="520412"/>
                    </a:lnTo>
                    <a:cubicBezTo>
                      <a:pt x="1009900" y="572820"/>
                      <a:pt x="967414" y="615306"/>
                      <a:pt x="915005" y="615306"/>
                    </a:cubicBezTo>
                    <a:lnTo>
                      <a:pt x="94895" y="615306"/>
                    </a:lnTo>
                    <a:cubicBezTo>
                      <a:pt x="42486" y="615306"/>
                      <a:pt x="0" y="572820"/>
                      <a:pt x="0" y="520412"/>
                    </a:cubicBezTo>
                    <a:lnTo>
                      <a:pt x="0" y="94895"/>
                    </a:lnTo>
                    <a:cubicBezTo>
                      <a:pt x="0" y="42486"/>
                      <a:pt x="42486" y="0"/>
                      <a:pt x="94895" y="0"/>
                    </a:cubicBezTo>
                    <a:close/>
                  </a:path>
                </a:pathLst>
              </a:custGeom>
              <a:solidFill>
                <a:srgbClr val="10596D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09900" cy="65340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265151" y="1019337"/>
              <a:ext cx="3411403" cy="92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b="true" sz="4199">
                  <a:solidFill>
                    <a:srgbClr val="F1A53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≈</a:t>
              </a:r>
              <a:r>
                <a:rPr lang="en-US" b="true" sz="4199">
                  <a:solidFill>
                    <a:srgbClr val="F1A53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2×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65151" y="2173164"/>
              <a:ext cx="4652446" cy="7109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0"/>
                </a:lnSpc>
                <a:spcBef>
                  <a:spcPct val="0"/>
                </a:spcBef>
              </a:pPr>
              <a:r>
                <a:rPr lang="en-US" sz="16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más que la hora, y casi 4× más que el día de la semana.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65151" y="441456"/>
              <a:ext cx="380211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 mes mueve el precio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617977" y="1870499"/>
            <a:ext cx="8054456" cy="4116939"/>
          </a:xfrm>
          <a:custGeom>
            <a:avLst/>
            <a:gdLst/>
            <a:ahLst/>
            <a:cxnLst/>
            <a:rect r="r" b="b" t="t" l="l"/>
            <a:pathLst>
              <a:path h="4116939" w="8054456">
                <a:moveTo>
                  <a:pt x="0" y="0"/>
                </a:moveTo>
                <a:lnTo>
                  <a:pt x="8054456" y="0"/>
                </a:lnTo>
                <a:lnTo>
                  <a:pt x="8054456" y="4116938"/>
                </a:lnTo>
                <a:lnTo>
                  <a:pt x="0" y="41169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30" t="0" r="-235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144000" y="1842942"/>
            <a:ext cx="8545351" cy="4144495"/>
          </a:xfrm>
          <a:custGeom>
            <a:avLst/>
            <a:gdLst/>
            <a:ahLst/>
            <a:cxnLst/>
            <a:rect r="r" b="b" t="t" l="l"/>
            <a:pathLst>
              <a:path h="4144495" w="8545351">
                <a:moveTo>
                  <a:pt x="0" y="0"/>
                </a:moveTo>
                <a:lnTo>
                  <a:pt x="8545351" y="0"/>
                </a:lnTo>
                <a:lnTo>
                  <a:pt x="8545351" y="4144495"/>
                </a:lnTo>
                <a:lnTo>
                  <a:pt x="0" y="41444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92044" y="509502"/>
            <a:ext cx="15567256" cy="836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0"/>
              </a:lnSpc>
            </a:pPr>
            <a:r>
              <a:rPr lang="en-US" sz="5900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Patron</a:t>
            </a:r>
            <a:r>
              <a:rPr lang="en-US" b="true" sz="590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</a:t>
            </a:r>
            <a:r>
              <a:rPr lang="en-US" b="true" sz="590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encontrados en el mercado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5161" y="2344532"/>
            <a:ext cx="5176543" cy="2934108"/>
            <a:chOff x="0" y="0"/>
            <a:chExt cx="1363369" cy="77276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522189" y="2344532"/>
            <a:ext cx="5176543" cy="2934108"/>
            <a:chOff x="0" y="0"/>
            <a:chExt cx="1363369" cy="7727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051157" y="2344532"/>
            <a:ext cx="5176543" cy="2934108"/>
            <a:chOff x="0" y="0"/>
            <a:chExt cx="1363369" cy="77276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3369" cy="772769"/>
            </a:xfrm>
            <a:custGeom>
              <a:avLst/>
              <a:gdLst/>
              <a:ahLst/>
              <a:cxnLst/>
              <a:rect r="r" b="b" t="t" l="l"/>
              <a:pathLst>
                <a:path h="772769" w="1363369">
                  <a:moveTo>
                    <a:pt x="23929" y="0"/>
                  </a:moveTo>
                  <a:lnTo>
                    <a:pt x="1339440" y="0"/>
                  </a:lnTo>
                  <a:cubicBezTo>
                    <a:pt x="1352656" y="0"/>
                    <a:pt x="1363369" y="10713"/>
                    <a:pt x="1363369" y="23929"/>
                  </a:cubicBezTo>
                  <a:lnTo>
                    <a:pt x="1363369" y="748840"/>
                  </a:lnTo>
                  <a:cubicBezTo>
                    <a:pt x="1363369" y="755186"/>
                    <a:pt x="1360848" y="761273"/>
                    <a:pt x="1356361" y="765760"/>
                  </a:cubicBezTo>
                  <a:cubicBezTo>
                    <a:pt x="1351873" y="770248"/>
                    <a:pt x="1345786" y="772769"/>
                    <a:pt x="1339440" y="772769"/>
                  </a:cubicBezTo>
                  <a:lnTo>
                    <a:pt x="23929" y="772769"/>
                  </a:lnTo>
                  <a:cubicBezTo>
                    <a:pt x="17583" y="772769"/>
                    <a:pt x="11496" y="770248"/>
                    <a:pt x="7009" y="765760"/>
                  </a:cubicBezTo>
                  <a:cubicBezTo>
                    <a:pt x="2521" y="761273"/>
                    <a:pt x="0" y="755186"/>
                    <a:pt x="0" y="748840"/>
                  </a:cubicBezTo>
                  <a:lnTo>
                    <a:pt x="0" y="23929"/>
                  </a:lnTo>
                  <a:cubicBezTo>
                    <a:pt x="0" y="17583"/>
                    <a:pt x="2521" y="11496"/>
                    <a:pt x="7009" y="7009"/>
                  </a:cubicBezTo>
                  <a:cubicBezTo>
                    <a:pt x="11496" y="2521"/>
                    <a:pt x="17583" y="0"/>
                    <a:pt x="23929" y="0"/>
                  </a:cubicBezTo>
                  <a:close/>
                </a:path>
              </a:pathLst>
            </a:custGeom>
            <a:solidFill>
              <a:srgbClr val="EFF1E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63369" cy="8108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53860" y="53744"/>
            <a:ext cx="16034578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Variables construidas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9232" y="2651689"/>
            <a:ext cx="446000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Var</a:t>
            </a:r>
            <a:r>
              <a:rPr lang="en-US" b="true" sz="21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iables ciclicas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278764" y="3140093"/>
            <a:ext cx="4874095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Seno/coseno </a:t>
            </a: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de hora y mes (hora_sin, hora_cos, mes_sin, mes_cos): capturan la periodicidad del precio.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847887" y="2771743"/>
            <a:ext cx="4460007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Es</a:t>
            </a:r>
            <a:r>
              <a:rPr lang="en-US" b="true" sz="19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tacion del año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6847887" y="3357810"/>
            <a:ext cx="4722103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estación (seca/llu</a:t>
            </a: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viosa), a partir del patrón mensual del EDA: precio más alto de marzo a junio por menor generacion hidroeléctrica.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376855" y="2741860"/>
            <a:ext cx="4460007" cy="682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</a:t>
            </a:r>
            <a:r>
              <a:rPr lang="en-US" b="true" sz="1999">
                <a:solidFill>
                  <a:srgbClr val="70A1B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rupo de hora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376855" y="3335355"/>
            <a:ext cx="4221162" cy="1768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grupo_hora (vall</a:t>
            </a:r>
            <a:r>
              <a:rPr lang="en-US" sz="1999">
                <a:solidFill>
                  <a:srgbClr val="70A1BD"/>
                </a:solidFill>
                <a:latin typeface="Poppins"/>
                <a:ea typeface="Poppins"/>
                <a:cs typeface="Poppins"/>
                <a:sym typeface="Poppins"/>
              </a:rPr>
              <a:t>e / intermedia / pico) por terciles de la mediana historica, calculado unicamente con datos de entrenamiento.</a:t>
            </a:r>
          </a:p>
          <a:p>
            <a:pPr algn="l">
              <a:lnSpc>
                <a:spcPts val="2799"/>
              </a:lnSpc>
              <a:spcBef>
                <a:spcPct val="0"/>
              </a:spcBef>
            </a:pPr>
          </a:p>
        </p:txBody>
      </p:sp>
      <p:grpSp>
        <p:nvGrpSpPr>
          <p:cNvPr name="Group 18" id="18"/>
          <p:cNvGrpSpPr/>
          <p:nvPr/>
        </p:nvGrpSpPr>
        <p:grpSpPr>
          <a:xfrm rot="0">
            <a:off x="3564588" y="6326389"/>
            <a:ext cx="5176543" cy="2934108"/>
            <a:chOff x="0" y="0"/>
            <a:chExt cx="6902057" cy="3912143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902057" cy="3912143"/>
              <a:chOff x="0" y="0"/>
              <a:chExt cx="1363369" cy="772769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1363369" cy="772769"/>
              </a:xfrm>
              <a:custGeom>
                <a:avLst/>
                <a:gdLst/>
                <a:ahLst/>
                <a:cxnLst/>
                <a:rect r="r" b="b" t="t" l="l"/>
                <a:pathLst>
                  <a:path h="772769" w="1363369">
                    <a:moveTo>
                      <a:pt x="23929" y="0"/>
                    </a:moveTo>
                    <a:lnTo>
                      <a:pt x="1339440" y="0"/>
                    </a:lnTo>
                    <a:cubicBezTo>
                      <a:pt x="1352656" y="0"/>
                      <a:pt x="1363369" y="10713"/>
                      <a:pt x="1363369" y="23929"/>
                    </a:cubicBezTo>
                    <a:lnTo>
                      <a:pt x="1363369" y="748840"/>
                    </a:lnTo>
                    <a:cubicBezTo>
                      <a:pt x="1363369" y="755186"/>
                      <a:pt x="1360848" y="761273"/>
                      <a:pt x="1356361" y="765760"/>
                    </a:cubicBezTo>
                    <a:cubicBezTo>
                      <a:pt x="1351873" y="770248"/>
                      <a:pt x="1345786" y="772769"/>
                      <a:pt x="1339440" y="772769"/>
                    </a:cubicBezTo>
                    <a:lnTo>
                      <a:pt x="23929" y="772769"/>
                    </a:lnTo>
                    <a:cubicBezTo>
                      <a:pt x="17583" y="772769"/>
                      <a:pt x="11496" y="770248"/>
                      <a:pt x="7009" y="765760"/>
                    </a:cubicBezTo>
                    <a:cubicBezTo>
                      <a:pt x="2521" y="761273"/>
                      <a:pt x="0" y="755186"/>
                      <a:pt x="0" y="748840"/>
                    </a:cubicBezTo>
                    <a:lnTo>
                      <a:pt x="0" y="23929"/>
                    </a:lnTo>
                    <a:cubicBezTo>
                      <a:pt x="0" y="17583"/>
                      <a:pt x="2521" y="11496"/>
                      <a:pt x="7009" y="7009"/>
                    </a:cubicBezTo>
                    <a:cubicBezTo>
                      <a:pt x="11496" y="2521"/>
                      <a:pt x="17583" y="0"/>
                      <a:pt x="23929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1363369" cy="8108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90563" y="435241"/>
              <a:ext cx="5946676" cy="90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Promed</a:t>
              </a:r>
              <a:r>
                <a:rPr lang="en-US" b="true" sz="1999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ios historicos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33990" y="1103327"/>
              <a:ext cx="5946676" cy="28088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pr</a:t>
              </a:r>
              <a:r>
                <a:rPr lang="en-US" sz="1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ecio_tip_hora y precio_tip_mes_hora (mediana por hora y por mes-hora). Resultaron ser las variables con mayor peso en el modelo final.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62886" y="6324192"/>
            <a:ext cx="5176543" cy="2934108"/>
            <a:chOff x="0" y="0"/>
            <a:chExt cx="6902057" cy="3912143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6902057" cy="3912143"/>
              <a:chOff x="0" y="0"/>
              <a:chExt cx="1363369" cy="77276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363369" cy="772769"/>
              </a:xfrm>
              <a:custGeom>
                <a:avLst/>
                <a:gdLst/>
                <a:ahLst/>
                <a:cxnLst/>
                <a:rect r="r" b="b" t="t" l="l"/>
                <a:pathLst>
                  <a:path h="772769" w="1363369">
                    <a:moveTo>
                      <a:pt x="23929" y="0"/>
                    </a:moveTo>
                    <a:lnTo>
                      <a:pt x="1339440" y="0"/>
                    </a:lnTo>
                    <a:cubicBezTo>
                      <a:pt x="1352656" y="0"/>
                      <a:pt x="1363369" y="10713"/>
                      <a:pt x="1363369" y="23929"/>
                    </a:cubicBezTo>
                    <a:lnTo>
                      <a:pt x="1363369" y="748840"/>
                    </a:lnTo>
                    <a:cubicBezTo>
                      <a:pt x="1363369" y="755186"/>
                      <a:pt x="1360848" y="761273"/>
                      <a:pt x="1356361" y="765760"/>
                    </a:cubicBezTo>
                    <a:cubicBezTo>
                      <a:pt x="1351873" y="770248"/>
                      <a:pt x="1345786" y="772769"/>
                      <a:pt x="1339440" y="772769"/>
                    </a:cubicBezTo>
                    <a:lnTo>
                      <a:pt x="23929" y="772769"/>
                    </a:lnTo>
                    <a:cubicBezTo>
                      <a:pt x="17583" y="772769"/>
                      <a:pt x="11496" y="770248"/>
                      <a:pt x="7009" y="765760"/>
                    </a:cubicBezTo>
                    <a:cubicBezTo>
                      <a:pt x="2521" y="761273"/>
                      <a:pt x="0" y="755186"/>
                      <a:pt x="0" y="748840"/>
                    </a:cubicBezTo>
                    <a:lnTo>
                      <a:pt x="0" y="23929"/>
                    </a:lnTo>
                    <a:cubicBezTo>
                      <a:pt x="0" y="17583"/>
                      <a:pt x="2521" y="11496"/>
                      <a:pt x="7009" y="7009"/>
                    </a:cubicBezTo>
                    <a:cubicBezTo>
                      <a:pt x="11496" y="2521"/>
                      <a:pt x="17583" y="0"/>
                      <a:pt x="23929" y="0"/>
                    </a:cubicBezTo>
                    <a:close/>
                  </a:path>
                </a:pathLst>
              </a:custGeom>
              <a:solidFill>
                <a:srgbClr val="EFF1E8"/>
              </a:solid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363369" cy="81086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34264" y="481741"/>
              <a:ext cx="5946676" cy="900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b="true" sz="1999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Intera</a:t>
              </a:r>
              <a:r>
                <a:rPr lang="en-US" b="true" sz="1999">
                  <a:solidFill>
                    <a:srgbClr val="70A1B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ccion pico-finde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93494" y="1186641"/>
              <a:ext cx="5628216" cy="23389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pico_finde: marca ho</a:t>
              </a:r>
              <a:r>
                <a:rPr lang="en-US" sz="1999">
                  <a:solidFill>
                    <a:srgbClr val="70A1BD"/>
                  </a:solidFill>
                  <a:latin typeface="Poppins"/>
                  <a:ea typeface="Poppins"/>
                  <a:cs typeface="Poppins"/>
                  <a:sym typeface="Poppins"/>
                </a:rPr>
                <a:t>ras de alta demanda (11h-21h) que ademas caen en fin de semana, donde el efecto pico se atenua.</a:t>
              </a:r>
            </a:p>
            <a:p>
              <a:pPr algn="l">
                <a:lnSpc>
                  <a:spcPts val="27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1050717" y="8103556"/>
            <a:ext cx="1145602" cy="1145602"/>
          </a:xfrm>
          <a:custGeom>
            <a:avLst/>
            <a:gdLst/>
            <a:ahLst/>
            <a:cxnLst/>
            <a:rect r="r" b="b" t="t" l="l"/>
            <a:pathLst>
              <a:path h="1145602" w="1145602">
                <a:moveTo>
                  <a:pt x="0" y="0"/>
                </a:moveTo>
                <a:lnTo>
                  <a:pt x="1145602" y="0"/>
                </a:lnTo>
                <a:lnTo>
                  <a:pt x="1145602" y="1145602"/>
                </a:lnTo>
                <a:lnTo>
                  <a:pt x="0" y="11456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true" flipV="false" rot="0">
            <a:off x="16115637" y="8112698"/>
            <a:ext cx="1145602" cy="1145602"/>
          </a:xfrm>
          <a:custGeom>
            <a:avLst/>
            <a:gdLst/>
            <a:ahLst/>
            <a:cxnLst/>
            <a:rect r="r" b="b" t="t" l="l"/>
            <a:pathLst>
              <a:path h="1145602" w="1145602">
                <a:moveTo>
                  <a:pt x="1145602" y="0"/>
                </a:moveTo>
                <a:lnTo>
                  <a:pt x="0" y="0"/>
                </a:lnTo>
                <a:lnTo>
                  <a:pt x="0" y="1145602"/>
                </a:lnTo>
                <a:lnTo>
                  <a:pt x="1145602" y="1145602"/>
                </a:lnTo>
                <a:lnTo>
                  <a:pt x="11456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4066" y="507558"/>
            <a:ext cx="3433865" cy="2471791"/>
          </a:xfrm>
          <a:custGeom>
            <a:avLst/>
            <a:gdLst/>
            <a:ahLst/>
            <a:cxnLst/>
            <a:rect r="r" b="b" t="t" l="l"/>
            <a:pathLst>
              <a:path h="2471791" w="3433865">
                <a:moveTo>
                  <a:pt x="0" y="0"/>
                </a:moveTo>
                <a:lnTo>
                  <a:pt x="3433865" y="0"/>
                </a:lnTo>
                <a:lnTo>
                  <a:pt x="3433865" y="2471791"/>
                </a:lnTo>
                <a:lnTo>
                  <a:pt x="0" y="247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208" y="1123950"/>
            <a:ext cx="13781156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</a:t>
            </a:r>
            <a:r>
              <a:rPr lang="en-US" b="true" sz="8799">
                <a:solidFill>
                  <a:srgbClr val="EFF1E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odelos comparados.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794582" y="3338281"/>
          <a:ext cx="14698836" cy="6268437"/>
        </p:xfrm>
        <a:graphic>
          <a:graphicData uri="http://schemas.openxmlformats.org/drawingml/2006/table">
            <a:tbl>
              <a:tblPr/>
              <a:tblGrid>
                <a:gridCol w="4533398"/>
                <a:gridCol w="4533398"/>
                <a:gridCol w="5632040"/>
              </a:tblGrid>
              <a:tr h="13355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0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Modelo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0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Hiperparámetro ganador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C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4409"/>
                        </a:lnSpc>
                        <a:defRPr/>
                      </a:pPr>
                      <a:r>
                        <a:rPr lang="en-US" sz="3150" b="true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Descripción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3A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C4CF"/>
                    </a:solidFill>
                  </a:tcPr>
                </a:tc>
              </a:tr>
              <a:tr h="986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Lineal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Regresión lineal múltiple de todas las   </a:t>
                      </a:r>
                      <a:endParaRPr lang="en-US" sz="1100"/>
                    </a:p>
                    <a:p>
                      <a:pPr algn="l">
                        <a:lnSpc>
                          <a:spcPts val="2940"/>
                        </a:lnSpc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variables</a:t>
                      </a:r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86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Polinomial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grado 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Interacciones entre variables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86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Ridge 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alpha optimo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Regularización L2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86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Lasso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alpha optimo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Regularización L1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9865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 Polinomial + Ridge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grado 2 , alpha =1000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     No linealidad + regularización fuerte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2674645"/>
            <a:ext cx="11464044" cy="6583655"/>
            <a:chOff x="0" y="0"/>
            <a:chExt cx="1415319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15319" cy="812800"/>
            </a:xfrm>
            <a:custGeom>
              <a:avLst/>
              <a:gdLst/>
              <a:ahLst/>
              <a:cxnLst/>
              <a:rect r="r" b="b" t="t" l="l"/>
              <a:pathLst>
                <a:path h="812800" w="1415319">
                  <a:moveTo>
                    <a:pt x="0" y="0"/>
                  </a:moveTo>
                  <a:lnTo>
                    <a:pt x="1415319" y="0"/>
                  </a:lnTo>
                  <a:lnTo>
                    <a:pt x="1415319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65" t="0" r="-265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400104" y="1123950"/>
            <a:ext cx="15487792" cy="124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79"/>
              </a:lnSpc>
            </a:pPr>
            <a:r>
              <a:rPr lang="en-US" b="true" sz="8799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Modelo Seleccionado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492744" y="2908554"/>
            <a:ext cx="5795256" cy="5900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19"/>
              </a:lnSpc>
            </a:pPr>
            <a:r>
              <a:rPr lang="en-US" sz="41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Modelo ganador</a:t>
            </a:r>
          </a:p>
          <a:p>
            <a:pPr algn="ctr">
              <a:lnSpc>
                <a:spcPts val="5819"/>
              </a:lnSpc>
            </a:pPr>
            <a:r>
              <a:rPr lang="en-US" sz="415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Combinación de Polinomial Grado 2 + Ridge</a:t>
            </a:r>
          </a:p>
          <a:p>
            <a:pPr algn="ctr">
              <a:lnSpc>
                <a:spcPts val="4559"/>
              </a:lnSpc>
            </a:pPr>
          </a:p>
          <a:p>
            <a:pPr algn="l" marL="487315" indent="-243657" lvl="1">
              <a:lnSpc>
                <a:spcPts val="3159"/>
              </a:lnSpc>
              <a:buFont typeface="Arial"/>
              <a:buChar char="•"/>
            </a:pPr>
            <a:r>
              <a:rPr lang="en-US" b="true" sz="2257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</a:t>
            </a: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 grado 2 polinomial captura interacciones complejas de energía.</a:t>
            </a:r>
          </a:p>
          <a:p>
            <a:pPr algn="ctr">
              <a:lnSpc>
                <a:spcPts val="3159"/>
              </a:lnSpc>
            </a:pPr>
          </a:p>
          <a:p>
            <a:pPr algn="l" marL="487315" indent="-243657" lvl="1">
              <a:lnSpc>
                <a:spcPts val="3159"/>
              </a:lnSpc>
              <a:spcBef>
                <a:spcPct val="0"/>
              </a:spcBef>
              <a:buFont typeface="Arial"/>
              <a:buChar char="•"/>
            </a:pPr>
            <a:r>
              <a:rPr lang="en-US" sz="225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 alpha de 1000 para regularizar la explosión polinomial y reduce la varianza.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A1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7612" y="2921979"/>
            <a:ext cx="13036557" cy="5936488"/>
          </a:xfrm>
          <a:custGeom>
            <a:avLst/>
            <a:gdLst/>
            <a:ahLst/>
            <a:cxnLst/>
            <a:rect r="r" b="b" t="t" l="l"/>
            <a:pathLst>
              <a:path h="5936488" w="13036557">
                <a:moveTo>
                  <a:pt x="0" y="0"/>
                </a:moveTo>
                <a:lnTo>
                  <a:pt x="13036557" y="0"/>
                </a:lnTo>
                <a:lnTo>
                  <a:pt x="13036557" y="5936488"/>
                </a:lnTo>
                <a:lnTo>
                  <a:pt x="0" y="5936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78" t="0" r="-17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02228" y="876763"/>
            <a:ext cx="9329632" cy="83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0"/>
              </a:lnSpc>
            </a:pPr>
            <a:r>
              <a:rPr lang="en-US" b="true" sz="5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Resultad</a:t>
            </a:r>
            <a:r>
              <a:rPr lang="en-US" b="true" sz="590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os sobre 2025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688852" y="2398589"/>
            <a:ext cx="3834463" cy="2060016"/>
            <a:chOff x="0" y="0"/>
            <a:chExt cx="5112618" cy="2746688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112618" cy="2746688"/>
              <a:chOff x="0" y="0"/>
              <a:chExt cx="1009900" cy="54255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009900" cy="542556"/>
              </a:xfrm>
              <a:custGeom>
                <a:avLst/>
                <a:gdLst/>
                <a:ahLst/>
                <a:cxnLst/>
                <a:rect r="r" b="b" t="t" l="l"/>
                <a:pathLst>
                  <a:path h="542556" w="1009900">
                    <a:moveTo>
                      <a:pt x="94895" y="0"/>
                    </a:moveTo>
                    <a:lnTo>
                      <a:pt x="915005" y="0"/>
                    </a:lnTo>
                    <a:cubicBezTo>
                      <a:pt x="967414" y="0"/>
                      <a:pt x="1009900" y="42486"/>
                      <a:pt x="1009900" y="94895"/>
                    </a:cubicBezTo>
                    <a:lnTo>
                      <a:pt x="1009900" y="447661"/>
                    </a:lnTo>
                    <a:cubicBezTo>
                      <a:pt x="1009900" y="500070"/>
                      <a:pt x="967414" y="542556"/>
                      <a:pt x="915005" y="542556"/>
                    </a:cubicBezTo>
                    <a:lnTo>
                      <a:pt x="94895" y="542556"/>
                    </a:lnTo>
                    <a:cubicBezTo>
                      <a:pt x="42486" y="542556"/>
                      <a:pt x="0" y="500070"/>
                      <a:pt x="0" y="447661"/>
                    </a:cubicBezTo>
                    <a:lnTo>
                      <a:pt x="0" y="94895"/>
                    </a:lnTo>
                    <a:cubicBezTo>
                      <a:pt x="0" y="42486"/>
                      <a:pt x="42486" y="0"/>
                      <a:pt x="94895" y="0"/>
                    </a:cubicBezTo>
                    <a:close/>
                  </a:path>
                </a:pathLst>
              </a:custGeom>
              <a:solidFill>
                <a:srgbClr val="10596D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1009900" cy="58065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8" id="8"/>
            <p:cNvSpPr txBox="true"/>
            <p:nvPr/>
          </p:nvSpPr>
          <p:spPr>
            <a:xfrm rot="0">
              <a:off x="1736322" y="448782"/>
              <a:ext cx="1639974" cy="92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79"/>
                </a:lnSpc>
                <a:spcBef>
                  <a:spcPct val="0"/>
                </a:spcBef>
              </a:pPr>
              <a:r>
                <a:rPr lang="en-US" b="true" sz="4199">
                  <a:solidFill>
                    <a:srgbClr val="F1A53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38.4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230086" y="1877534"/>
              <a:ext cx="4652446" cy="418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Error promedio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655254" y="1519394"/>
              <a:ext cx="380211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MAE (USD/MWh)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72655" y="4826229"/>
            <a:ext cx="3741501" cy="1731400"/>
            <a:chOff x="0" y="0"/>
            <a:chExt cx="4988668" cy="230853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988668" cy="2308533"/>
              <a:chOff x="0" y="0"/>
              <a:chExt cx="985416" cy="456007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85416" cy="456007"/>
              </a:xfrm>
              <a:custGeom>
                <a:avLst/>
                <a:gdLst/>
                <a:ahLst/>
                <a:cxnLst/>
                <a:rect r="r" b="b" t="t" l="l"/>
                <a:pathLst>
                  <a:path h="456007" w="985416">
                    <a:moveTo>
                      <a:pt x="97252" y="0"/>
                    </a:moveTo>
                    <a:lnTo>
                      <a:pt x="888163" y="0"/>
                    </a:lnTo>
                    <a:cubicBezTo>
                      <a:pt x="941874" y="0"/>
                      <a:pt x="985416" y="43541"/>
                      <a:pt x="985416" y="97252"/>
                    </a:cubicBezTo>
                    <a:lnTo>
                      <a:pt x="985416" y="358754"/>
                    </a:lnTo>
                    <a:cubicBezTo>
                      <a:pt x="985416" y="384547"/>
                      <a:pt x="975170" y="409284"/>
                      <a:pt x="956931" y="427522"/>
                    </a:cubicBezTo>
                    <a:cubicBezTo>
                      <a:pt x="938693" y="445760"/>
                      <a:pt x="913956" y="456007"/>
                      <a:pt x="888163" y="456007"/>
                    </a:cubicBezTo>
                    <a:lnTo>
                      <a:pt x="97252" y="456007"/>
                    </a:lnTo>
                    <a:cubicBezTo>
                      <a:pt x="71460" y="456007"/>
                      <a:pt x="46723" y="445760"/>
                      <a:pt x="28485" y="427522"/>
                    </a:cubicBezTo>
                    <a:cubicBezTo>
                      <a:pt x="10246" y="409284"/>
                      <a:pt x="0" y="384547"/>
                      <a:pt x="0" y="358754"/>
                    </a:cubicBezTo>
                    <a:lnTo>
                      <a:pt x="0" y="97252"/>
                    </a:lnTo>
                    <a:cubicBezTo>
                      <a:pt x="0" y="71460"/>
                      <a:pt x="10246" y="46723"/>
                      <a:pt x="28485" y="28485"/>
                    </a:cubicBezTo>
                    <a:cubicBezTo>
                      <a:pt x="46723" y="10246"/>
                      <a:pt x="71460" y="0"/>
                      <a:pt x="97252" y="0"/>
                    </a:cubicBezTo>
                    <a:close/>
                  </a:path>
                </a:pathLst>
              </a:custGeom>
              <a:solidFill>
                <a:srgbClr val="A0C4CF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985416" cy="49410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1666322" y="229705"/>
              <a:ext cx="1656023" cy="9245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879"/>
                </a:lnSpc>
                <a:spcBef>
                  <a:spcPct val="0"/>
                </a:spcBef>
              </a:pPr>
              <a:r>
                <a:rPr lang="en-US" b="true" sz="4199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25</a:t>
              </a:r>
              <a:r>
                <a:rPr lang="en-US" b="true" sz="4199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.6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1070495" y="1373344"/>
              <a:ext cx="2847678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Mediana del error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672655" y="6929104"/>
            <a:ext cx="3850660" cy="2463657"/>
            <a:chOff x="0" y="0"/>
            <a:chExt cx="5134214" cy="3284876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134214" cy="3284876"/>
              <a:chOff x="0" y="0"/>
              <a:chExt cx="1009900" cy="64613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009900" cy="646135"/>
              </a:xfrm>
              <a:custGeom>
                <a:avLst/>
                <a:gdLst/>
                <a:ahLst/>
                <a:cxnLst/>
                <a:rect r="r" b="b" t="t" l="l"/>
                <a:pathLst>
                  <a:path h="646135" w="1009900">
                    <a:moveTo>
                      <a:pt x="94496" y="0"/>
                    </a:moveTo>
                    <a:lnTo>
                      <a:pt x="915404" y="0"/>
                    </a:lnTo>
                    <a:cubicBezTo>
                      <a:pt x="940466" y="0"/>
                      <a:pt x="964501" y="9956"/>
                      <a:pt x="982223" y="27677"/>
                    </a:cubicBezTo>
                    <a:cubicBezTo>
                      <a:pt x="999944" y="45398"/>
                      <a:pt x="1009900" y="69434"/>
                      <a:pt x="1009900" y="94496"/>
                    </a:cubicBezTo>
                    <a:lnTo>
                      <a:pt x="1009900" y="551640"/>
                    </a:lnTo>
                    <a:cubicBezTo>
                      <a:pt x="1009900" y="576701"/>
                      <a:pt x="999944" y="600737"/>
                      <a:pt x="982223" y="618458"/>
                    </a:cubicBezTo>
                    <a:cubicBezTo>
                      <a:pt x="964501" y="636179"/>
                      <a:pt x="940466" y="646135"/>
                      <a:pt x="915404" y="646135"/>
                    </a:cubicBezTo>
                    <a:lnTo>
                      <a:pt x="94496" y="646135"/>
                    </a:lnTo>
                    <a:cubicBezTo>
                      <a:pt x="42307" y="646135"/>
                      <a:pt x="0" y="603828"/>
                      <a:pt x="0" y="551640"/>
                    </a:cubicBezTo>
                    <a:lnTo>
                      <a:pt x="0" y="94496"/>
                    </a:lnTo>
                    <a:cubicBezTo>
                      <a:pt x="0" y="69434"/>
                      <a:pt x="9956" y="45398"/>
                      <a:pt x="27677" y="27677"/>
                    </a:cubicBezTo>
                    <a:cubicBezTo>
                      <a:pt x="45398" y="9956"/>
                      <a:pt x="69434" y="0"/>
                      <a:pt x="94496" y="0"/>
                    </a:cubicBezTo>
                    <a:close/>
                  </a:path>
                </a:pathLst>
              </a:custGeom>
              <a:solidFill>
                <a:srgbClr val="A0C4C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009900" cy="684235"/>
              </a:xfrm>
              <a:prstGeom prst="rect">
                <a:avLst/>
              </a:prstGeom>
            </p:spPr>
            <p:txBody>
              <a:bodyPr anchor="ctr" rtlCol="false" tIns="51015" lIns="51015" bIns="51015" rIns="51015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37248" y="213813"/>
              <a:ext cx="4481313" cy="5155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31"/>
                </a:lnSpc>
                <a:spcBef>
                  <a:spcPct val="0"/>
                </a:spcBef>
              </a:pPr>
              <a:r>
                <a:rPr lang="en-US" b="true" sz="2308">
                  <a:solidFill>
                    <a:srgbClr val="10596D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Época seca (mar–jun)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145546" y="934366"/>
              <a:ext cx="4864718" cy="21962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El modelo proyectó una época seca cara, como la de 2023–2024, pero en 2025 fue más barata y terminó sobreestimando.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7243" y="2481288"/>
            <a:ext cx="6866017" cy="2952507"/>
            <a:chOff x="0" y="0"/>
            <a:chExt cx="1586915" cy="6824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6915" cy="682401"/>
            </a:xfrm>
            <a:custGeom>
              <a:avLst/>
              <a:gdLst/>
              <a:ahLst/>
              <a:cxnLst/>
              <a:rect r="r" b="b" t="t" l="l"/>
              <a:pathLst>
                <a:path h="682401" w="1586915">
                  <a:moveTo>
                    <a:pt x="52996" y="0"/>
                  </a:moveTo>
                  <a:lnTo>
                    <a:pt x="1533919" y="0"/>
                  </a:lnTo>
                  <a:cubicBezTo>
                    <a:pt x="1547975" y="0"/>
                    <a:pt x="1561454" y="5583"/>
                    <a:pt x="1571393" y="15522"/>
                  </a:cubicBezTo>
                  <a:cubicBezTo>
                    <a:pt x="1581332" y="25461"/>
                    <a:pt x="1586915" y="38940"/>
                    <a:pt x="1586915" y="52996"/>
                  </a:cubicBezTo>
                  <a:lnTo>
                    <a:pt x="1586915" y="629405"/>
                  </a:lnTo>
                  <a:cubicBezTo>
                    <a:pt x="1586915" y="658674"/>
                    <a:pt x="1563188" y="682401"/>
                    <a:pt x="1533919" y="682401"/>
                  </a:cubicBezTo>
                  <a:lnTo>
                    <a:pt x="52996" y="682401"/>
                  </a:lnTo>
                  <a:cubicBezTo>
                    <a:pt x="23727" y="682401"/>
                    <a:pt x="0" y="658674"/>
                    <a:pt x="0" y="629405"/>
                  </a:cubicBezTo>
                  <a:lnTo>
                    <a:pt x="0" y="52996"/>
                  </a:lnTo>
                  <a:cubicBezTo>
                    <a:pt x="0" y="23727"/>
                    <a:pt x="23727" y="0"/>
                    <a:pt x="52996" y="0"/>
                  </a:cubicBezTo>
                  <a:close/>
                </a:path>
              </a:pathLst>
            </a:custGeom>
            <a:solidFill>
              <a:srgbClr val="EEF5F7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586915" cy="720501"/>
            </a:xfrm>
            <a:prstGeom prst="rect">
              <a:avLst/>
            </a:prstGeom>
          </p:spPr>
          <p:txBody>
            <a:bodyPr anchor="ctr" rtlCol="false" tIns="57888" lIns="57888" bIns="57888" rIns="5788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97912" y="2481288"/>
            <a:ext cx="6866017" cy="2952507"/>
            <a:chOff x="0" y="0"/>
            <a:chExt cx="1586915" cy="6824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86915" cy="682401"/>
            </a:xfrm>
            <a:custGeom>
              <a:avLst/>
              <a:gdLst/>
              <a:ahLst/>
              <a:cxnLst/>
              <a:rect r="r" b="b" t="t" l="l"/>
              <a:pathLst>
                <a:path h="682401" w="1586915">
                  <a:moveTo>
                    <a:pt x="52996" y="0"/>
                  </a:moveTo>
                  <a:lnTo>
                    <a:pt x="1533919" y="0"/>
                  </a:lnTo>
                  <a:cubicBezTo>
                    <a:pt x="1547975" y="0"/>
                    <a:pt x="1561454" y="5583"/>
                    <a:pt x="1571393" y="15522"/>
                  </a:cubicBezTo>
                  <a:cubicBezTo>
                    <a:pt x="1581332" y="25461"/>
                    <a:pt x="1586915" y="38940"/>
                    <a:pt x="1586915" y="52996"/>
                  </a:cubicBezTo>
                  <a:lnTo>
                    <a:pt x="1586915" y="629405"/>
                  </a:lnTo>
                  <a:cubicBezTo>
                    <a:pt x="1586915" y="658674"/>
                    <a:pt x="1563188" y="682401"/>
                    <a:pt x="1533919" y="682401"/>
                  </a:cubicBezTo>
                  <a:lnTo>
                    <a:pt x="52996" y="682401"/>
                  </a:lnTo>
                  <a:cubicBezTo>
                    <a:pt x="23727" y="682401"/>
                    <a:pt x="0" y="658674"/>
                    <a:pt x="0" y="629405"/>
                  </a:cubicBezTo>
                  <a:lnTo>
                    <a:pt x="0" y="52996"/>
                  </a:lnTo>
                  <a:cubicBezTo>
                    <a:pt x="0" y="23727"/>
                    <a:pt x="23727" y="0"/>
                    <a:pt x="52996" y="0"/>
                  </a:cubicBezTo>
                  <a:close/>
                </a:path>
              </a:pathLst>
            </a:custGeom>
            <a:solidFill>
              <a:srgbClr val="EEF5F7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86915" cy="720501"/>
            </a:xfrm>
            <a:prstGeom prst="rect">
              <a:avLst/>
            </a:prstGeom>
          </p:spPr>
          <p:txBody>
            <a:bodyPr anchor="ctr" rtlCol="false" tIns="57888" lIns="57888" bIns="57888" rIns="5788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17243" y="6305793"/>
            <a:ext cx="6866017" cy="2952507"/>
            <a:chOff x="0" y="0"/>
            <a:chExt cx="1586915" cy="6824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86915" cy="682401"/>
            </a:xfrm>
            <a:custGeom>
              <a:avLst/>
              <a:gdLst/>
              <a:ahLst/>
              <a:cxnLst/>
              <a:rect r="r" b="b" t="t" l="l"/>
              <a:pathLst>
                <a:path h="682401" w="1586915">
                  <a:moveTo>
                    <a:pt x="52996" y="0"/>
                  </a:moveTo>
                  <a:lnTo>
                    <a:pt x="1533919" y="0"/>
                  </a:lnTo>
                  <a:cubicBezTo>
                    <a:pt x="1547975" y="0"/>
                    <a:pt x="1561454" y="5583"/>
                    <a:pt x="1571393" y="15522"/>
                  </a:cubicBezTo>
                  <a:cubicBezTo>
                    <a:pt x="1581332" y="25461"/>
                    <a:pt x="1586915" y="38940"/>
                    <a:pt x="1586915" y="52996"/>
                  </a:cubicBezTo>
                  <a:lnTo>
                    <a:pt x="1586915" y="629405"/>
                  </a:lnTo>
                  <a:cubicBezTo>
                    <a:pt x="1586915" y="658674"/>
                    <a:pt x="1563188" y="682401"/>
                    <a:pt x="1533919" y="682401"/>
                  </a:cubicBezTo>
                  <a:lnTo>
                    <a:pt x="52996" y="682401"/>
                  </a:lnTo>
                  <a:cubicBezTo>
                    <a:pt x="23727" y="682401"/>
                    <a:pt x="0" y="658674"/>
                    <a:pt x="0" y="629405"/>
                  </a:cubicBezTo>
                  <a:lnTo>
                    <a:pt x="0" y="52996"/>
                  </a:lnTo>
                  <a:cubicBezTo>
                    <a:pt x="0" y="23727"/>
                    <a:pt x="23727" y="0"/>
                    <a:pt x="52996" y="0"/>
                  </a:cubicBezTo>
                  <a:close/>
                </a:path>
              </a:pathLst>
            </a:custGeom>
            <a:solidFill>
              <a:srgbClr val="EEF5F7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86915" cy="720501"/>
            </a:xfrm>
            <a:prstGeom prst="rect">
              <a:avLst/>
            </a:prstGeom>
          </p:spPr>
          <p:txBody>
            <a:bodyPr anchor="ctr" rtlCol="false" tIns="57888" lIns="57888" bIns="57888" rIns="5788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30959" y="6305793"/>
            <a:ext cx="6866017" cy="2952507"/>
            <a:chOff x="0" y="0"/>
            <a:chExt cx="1586915" cy="6824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86915" cy="682401"/>
            </a:xfrm>
            <a:custGeom>
              <a:avLst/>
              <a:gdLst/>
              <a:ahLst/>
              <a:cxnLst/>
              <a:rect r="r" b="b" t="t" l="l"/>
              <a:pathLst>
                <a:path h="682401" w="1586915">
                  <a:moveTo>
                    <a:pt x="52996" y="0"/>
                  </a:moveTo>
                  <a:lnTo>
                    <a:pt x="1533919" y="0"/>
                  </a:lnTo>
                  <a:cubicBezTo>
                    <a:pt x="1547975" y="0"/>
                    <a:pt x="1561454" y="5583"/>
                    <a:pt x="1571393" y="15522"/>
                  </a:cubicBezTo>
                  <a:cubicBezTo>
                    <a:pt x="1581332" y="25461"/>
                    <a:pt x="1586915" y="38940"/>
                    <a:pt x="1586915" y="52996"/>
                  </a:cubicBezTo>
                  <a:lnTo>
                    <a:pt x="1586915" y="629405"/>
                  </a:lnTo>
                  <a:cubicBezTo>
                    <a:pt x="1586915" y="658674"/>
                    <a:pt x="1563188" y="682401"/>
                    <a:pt x="1533919" y="682401"/>
                  </a:cubicBezTo>
                  <a:lnTo>
                    <a:pt x="52996" y="682401"/>
                  </a:lnTo>
                  <a:cubicBezTo>
                    <a:pt x="23727" y="682401"/>
                    <a:pt x="0" y="658674"/>
                    <a:pt x="0" y="629405"/>
                  </a:cubicBezTo>
                  <a:lnTo>
                    <a:pt x="0" y="52996"/>
                  </a:lnTo>
                  <a:cubicBezTo>
                    <a:pt x="0" y="23727"/>
                    <a:pt x="23727" y="0"/>
                    <a:pt x="52996" y="0"/>
                  </a:cubicBezTo>
                  <a:close/>
                </a:path>
              </a:pathLst>
            </a:custGeom>
            <a:solidFill>
              <a:srgbClr val="EEF5F7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86915" cy="720501"/>
            </a:xfrm>
            <a:prstGeom prst="rect">
              <a:avLst/>
            </a:prstGeom>
          </p:spPr>
          <p:txBody>
            <a:bodyPr anchor="ctr" rtlCol="false" tIns="57888" lIns="57888" bIns="57888" rIns="57888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90355" y="3395505"/>
            <a:ext cx="1281382" cy="128138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864894" y="3594187"/>
            <a:ext cx="771010" cy="771010"/>
          </a:xfrm>
          <a:custGeom>
            <a:avLst/>
            <a:gdLst/>
            <a:ahLst/>
            <a:cxnLst/>
            <a:rect r="r" b="b" t="t" l="l"/>
            <a:pathLst>
              <a:path h="771010" w="771010">
                <a:moveTo>
                  <a:pt x="0" y="0"/>
                </a:moveTo>
                <a:lnTo>
                  <a:pt x="771010" y="0"/>
                </a:lnTo>
                <a:lnTo>
                  <a:pt x="771010" y="771010"/>
                </a:lnTo>
                <a:lnTo>
                  <a:pt x="0" y="771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910907" y="3316851"/>
            <a:ext cx="1281382" cy="128138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0149159" y="3520371"/>
            <a:ext cx="804878" cy="804878"/>
          </a:xfrm>
          <a:custGeom>
            <a:avLst/>
            <a:gdLst/>
            <a:ahLst/>
            <a:cxnLst/>
            <a:rect r="r" b="b" t="t" l="l"/>
            <a:pathLst>
              <a:path h="804878" w="804878">
                <a:moveTo>
                  <a:pt x="0" y="0"/>
                </a:moveTo>
                <a:lnTo>
                  <a:pt x="804878" y="0"/>
                </a:lnTo>
                <a:lnTo>
                  <a:pt x="804878" y="804878"/>
                </a:lnTo>
                <a:lnTo>
                  <a:pt x="0" y="8048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590355" y="7141356"/>
            <a:ext cx="1281382" cy="1281382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804416" y="7355416"/>
            <a:ext cx="853260" cy="853260"/>
          </a:xfrm>
          <a:custGeom>
            <a:avLst/>
            <a:gdLst/>
            <a:ahLst/>
            <a:cxnLst/>
            <a:rect r="r" b="b" t="t" l="l"/>
            <a:pathLst>
              <a:path h="853260" w="853260">
                <a:moveTo>
                  <a:pt x="0" y="0"/>
                </a:moveTo>
                <a:lnTo>
                  <a:pt x="853260" y="0"/>
                </a:lnTo>
                <a:lnTo>
                  <a:pt x="853260" y="853261"/>
                </a:lnTo>
                <a:lnTo>
                  <a:pt x="0" y="8532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910907" y="7141356"/>
            <a:ext cx="1281382" cy="1281382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100777" y="7355416"/>
            <a:ext cx="901643" cy="901643"/>
          </a:xfrm>
          <a:custGeom>
            <a:avLst/>
            <a:gdLst/>
            <a:ahLst/>
            <a:cxnLst/>
            <a:rect r="r" b="b" t="t" l="l"/>
            <a:pathLst>
              <a:path h="901643" w="901643">
                <a:moveTo>
                  <a:pt x="0" y="0"/>
                </a:moveTo>
                <a:lnTo>
                  <a:pt x="901643" y="0"/>
                </a:lnTo>
                <a:lnTo>
                  <a:pt x="901643" y="901643"/>
                </a:lnTo>
                <a:lnTo>
                  <a:pt x="0" y="9016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217243" y="768058"/>
            <a:ext cx="15853514" cy="83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0"/>
              </a:lnSpc>
            </a:pPr>
            <a:r>
              <a:rPr lang="en-US" sz="5900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Apr</a:t>
            </a:r>
            <a:r>
              <a:rPr lang="en-US" b="true" sz="590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endizaje</a:t>
            </a:r>
            <a:r>
              <a:rPr lang="en-US" b="true" sz="5900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 sobre el mercado electrico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70127" y="3092783"/>
            <a:ext cx="4813133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 precio es muy estacional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270127" y="3928967"/>
            <a:ext cx="4193837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Está atado a la hidrología del país, temporada seca cara, temporada de lluvias barata.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92339" y="4024554"/>
            <a:ext cx="4193837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Esos patrones recurrentes explican bien el precio en condiciones normales.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611692" y="3092783"/>
            <a:ext cx="4039013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 repite mes a mes y hora a hora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5" id="35"/>
          <p:cNvSpPr txBox="true"/>
          <p:nvPr/>
        </p:nvSpPr>
        <p:spPr>
          <a:xfrm rot="0">
            <a:off x="3270127" y="7817464"/>
            <a:ext cx="4193837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Los eventos de escasez son raros y dependen de factores físicos, no de la fecha.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89480" y="6885692"/>
            <a:ext cx="4039013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Los picos no se anticipan con calendario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1611692" y="7709627"/>
            <a:ext cx="4193837" cy="871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Demanda, nivel de embalses, disponibilidad de plantas y precio de combustibles.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05251" y="6935933"/>
            <a:ext cx="440672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Faltan variables para decidir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3726" y="6632875"/>
            <a:ext cx="12105053" cy="907317"/>
            <a:chOff x="0" y="0"/>
            <a:chExt cx="3188162" cy="2389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3726" y="7840230"/>
            <a:ext cx="12105053" cy="907317"/>
            <a:chOff x="0" y="0"/>
            <a:chExt cx="3188162" cy="2389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73726" y="9052347"/>
            <a:ext cx="12105053" cy="907317"/>
            <a:chOff x="0" y="0"/>
            <a:chExt cx="3188162" cy="2389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88162" cy="238964"/>
            </a:xfrm>
            <a:custGeom>
              <a:avLst/>
              <a:gdLst/>
              <a:ahLst/>
              <a:cxnLst/>
              <a:rect r="r" b="b" t="t" l="l"/>
              <a:pathLst>
                <a:path h="238964" w="3188162">
                  <a:moveTo>
                    <a:pt x="32618" y="0"/>
                  </a:moveTo>
                  <a:lnTo>
                    <a:pt x="3155545" y="0"/>
                  </a:lnTo>
                  <a:cubicBezTo>
                    <a:pt x="3173559" y="0"/>
                    <a:pt x="3188162" y="14603"/>
                    <a:pt x="3188162" y="32618"/>
                  </a:cubicBezTo>
                  <a:lnTo>
                    <a:pt x="3188162" y="206347"/>
                  </a:lnTo>
                  <a:cubicBezTo>
                    <a:pt x="3188162" y="224361"/>
                    <a:pt x="3173559" y="238964"/>
                    <a:pt x="3155545" y="238964"/>
                  </a:cubicBezTo>
                  <a:lnTo>
                    <a:pt x="32618" y="238964"/>
                  </a:lnTo>
                  <a:cubicBezTo>
                    <a:pt x="14603" y="238964"/>
                    <a:pt x="0" y="224361"/>
                    <a:pt x="0" y="206347"/>
                  </a:cubicBezTo>
                  <a:lnTo>
                    <a:pt x="0" y="32618"/>
                  </a:lnTo>
                  <a:cubicBezTo>
                    <a:pt x="0" y="14603"/>
                    <a:pt x="14603" y="0"/>
                    <a:pt x="32618" y="0"/>
                  </a:cubicBez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3188162" cy="2770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5036845" y="-197439"/>
            <a:ext cx="3765505" cy="11168682"/>
            <a:chOff x="0" y="0"/>
            <a:chExt cx="991738" cy="294154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1738" cy="2941546"/>
            </a:xfrm>
            <a:custGeom>
              <a:avLst/>
              <a:gdLst/>
              <a:ahLst/>
              <a:cxnLst/>
              <a:rect r="r" b="b" t="t" l="l"/>
              <a:pathLst>
                <a:path h="2941546" w="991738">
                  <a:moveTo>
                    <a:pt x="0" y="0"/>
                  </a:moveTo>
                  <a:lnTo>
                    <a:pt x="991738" y="0"/>
                  </a:lnTo>
                  <a:lnTo>
                    <a:pt x="991738" y="2941546"/>
                  </a:lnTo>
                  <a:lnTo>
                    <a:pt x="0" y="2941546"/>
                  </a:lnTo>
                  <a:close/>
                </a:path>
              </a:pathLst>
            </a:custGeom>
            <a:solidFill>
              <a:srgbClr val="34373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1738" cy="29796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360611" y="2224408"/>
            <a:ext cx="10131284" cy="4141162"/>
          </a:xfrm>
          <a:custGeom>
            <a:avLst/>
            <a:gdLst/>
            <a:ahLst/>
            <a:cxnLst/>
            <a:rect r="r" b="b" t="t" l="l"/>
            <a:pathLst>
              <a:path h="4141162" w="10131284">
                <a:moveTo>
                  <a:pt x="0" y="0"/>
                </a:moveTo>
                <a:lnTo>
                  <a:pt x="10131284" y="0"/>
                </a:lnTo>
                <a:lnTo>
                  <a:pt x="10131284" y="4141162"/>
                </a:lnTo>
                <a:lnTo>
                  <a:pt x="0" y="4141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1104900"/>
            <a:ext cx="13854017" cy="1119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0"/>
              </a:lnSpc>
            </a:pPr>
            <a:r>
              <a:rPr lang="en-US" sz="7900" b="true">
                <a:solidFill>
                  <a:srgbClr val="34373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Limitaciones del modelo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70946" y="6840801"/>
            <a:ext cx="1131061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23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ncapacidad de Predecir Picos de Precio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73370" y="8049780"/>
            <a:ext cx="1190576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V</a:t>
            </a:r>
            <a:r>
              <a:rPr lang="en-US" sz="23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ulnerabilidad en la Rampa de la Tarde (17:00 h)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9260273"/>
            <a:ext cx="12795106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Sub</a:t>
            </a:r>
            <a:r>
              <a:rPr lang="en-US" sz="2399">
                <a:solidFill>
                  <a:srgbClr val="EFF1E8"/>
                </a:solidFill>
                <a:latin typeface="Poppins"/>
                <a:ea typeface="Poppins"/>
                <a:cs typeface="Poppins"/>
                <a:sym typeface="Poppins"/>
              </a:rPr>
              <a:t>estimación de Desplomes de Precio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DAHMyXtQHtA</dc:identifier>
  <dcterms:modified xsi:type="dcterms:W3CDTF">2011-08-01T06:04:30Z</dcterms:modified>
  <cp:revision>1</cp:revision>
  <dc:title>Proyecto 1 Statistical Learning I</dc:title>
</cp:coreProperties>
</file>